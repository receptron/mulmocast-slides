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57" r:id="rId3"/>
    <p:sldId id="258" r:id="rId4"/>
    <p:sldId id="259" r:id="rId5"/>
    <p:sldId id="261" r:id="rId6"/>
    <p:sldId id="262" r:id="rId7"/>
    <p:sldId id="265" r:id="rId8"/>
    <p:sldId id="266" r:id="rId9"/>
    <p:sldId id="267" r:id="rId10"/>
    <p:sldId id="268" r:id="rId11"/>
    <p:sldId id="269" r:id="rId1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1" d="100"/>
          <a:sy n="121" d="100"/>
        </p:scale>
        <p:origin x="1904"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26f98658c6_0_0:notes"/>
          <p:cNvSpPr>
            <a:spLocks noGrp="1" noRot="1" noChangeAspect="1"/>
          </p:cNvSpPr>
          <p:nvPr>
            <p:ph type="sldImg" idx="2"/>
          </p:nvPr>
        </p:nvSpPr>
        <p:spPr>
          <a:xfrm>
            <a:off x="11433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26f98658c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ebf7371591_0_13:notes"/>
          <p:cNvSpPr>
            <a:spLocks noGrp="1" noRot="1" noChangeAspect="1"/>
          </p:cNvSpPr>
          <p:nvPr>
            <p:ph type="sldImg" idx="2"/>
          </p:nvPr>
        </p:nvSpPr>
        <p:spPr>
          <a:xfrm>
            <a:off x="11433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ebf7371591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ebf7371591_0_21:notes"/>
          <p:cNvSpPr>
            <a:spLocks noGrp="1" noRot="1" noChangeAspect="1"/>
          </p:cNvSpPr>
          <p:nvPr>
            <p:ph type="sldImg" idx="2"/>
          </p:nvPr>
        </p:nvSpPr>
        <p:spPr>
          <a:xfrm>
            <a:off x="11433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ebf737159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ebf7371591_0_38:notes"/>
          <p:cNvSpPr>
            <a:spLocks noGrp="1" noRot="1" noChangeAspect="1"/>
          </p:cNvSpPr>
          <p:nvPr>
            <p:ph type="sldImg" idx="2"/>
          </p:nvPr>
        </p:nvSpPr>
        <p:spPr>
          <a:xfrm>
            <a:off x="11433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ebf7371591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ebf7371591_0_43:notes"/>
          <p:cNvSpPr>
            <a:spLocks noGrp="1" noRot="1" noChangeAspect="1"/>
          </p:cNvSpPr>
          <p:nvPr>
            <p:ph type="sldImg" idx="2"/>
          </p:nvPr>
        </p:nvSpPr>
        <p:spPr>
          <a:xfrm>
            <a:off x="11433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ebf737159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ebf7371591_0_72:notes"/>
          <p:cNvSpPr>
            <a:spLocks noGrp="1" noRot="1" noChangeAspect="1"/>
          </p:cNvSpPr>
          <p:nvPr>
            <p:ph type="sldImg" idx="2"/>
          </p:nvPr>
        </p:nvSpPr>
        <p:spPr>
          <a:xfrm>
            <a:off x="11433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ebf7371591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ebf7371591_0_81:notes"/>
          <p:cNvSpPr>
            <a:spLocks noGrp="1" noRot="1" noChangeAspect="1"/>
          </p:cNvSpPr>
          <p:nvPr>
            <p:ph type="sldImg" idx="2"/>
          </p:nvPr>
        </p:nvSpPr>
        <p:spPr>
          <a:xfrm>
            <a:off x="11433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ebf7371591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26f98658c6_1_31:notes"/>
          <p:cNvSpPr>
            <a:spLocks noGrp="1" noRot="1" noChangeAspect="1"/>
          </p:cNvSpPr>
          <p:nvPr>
            <p:ph type="sldImg" idx="2"/>
          </p:nvPr>
        </p:nvSpPr>
        <p:spPr>
          <a:xfrm>
            <a:off x="11433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26f98658c6_1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55139add83_0_24:notes"/>
          <p:cNvSpPr>
            <a:spLocks noGrp="1" noRot="1" noChangeAspect="1"/>
          </p:cNvSpPr>
          <p:nvPr>
            <p:ph type="sldImg" idx="2"/>
          </p:nvPr>
        </p:nvSpPr>
        <p:spPr>
          <a:xfrm>
            <a:off x="11433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55139add83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55139add83_0_15:notes"/>
          <p:cNvSpPr>
            <a:spLocks noGrp="1" noRot="1" noChangeAspect="1"/>
          </p:cNvSpPr>
          <p:nvPr>
            <p:ph type="sldImg" idx="2"/>
          </p:nvPr>
        </p:nvSpPr>
        <p:spPr>
          <a:xfrm>
            <a:off x="11433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55139add8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solidFill>
                  <a:schemeClr val="dk1"/>
                </a:solidFill>
              </a:rPr>
              <a:t>デモの前にご質問などあれば。</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ja">
                <a:solidFill>
                  <a:schemeClr val="dk1"/>
                </a:solidFill>
              </a:rPr>
              <a:t>・サービスはなくらなないのか</a:t>
            </a:r>
            <a:endParaRPr>
              <a:solidFill>
                <a:schemeClr val="dk1"/>
              </a:solidFill>
            </a:endParaRPr>
          </a:p>
          <a:p>
            <a:pPr marL="0" lvl="0" indent="0" algn="l" rtl="0">
              <a:spcBef>
                <a:spcPts val="0"/>
              </a:spcBef>
              <a:spcAft>
                <a:spcPts val="0"/>
              </a:spcAft>
              <a:buClr>
                <a:schemeClr val="dk1"/>
              </a:buClr>
              <a:buSzPts val="1100"/>
              <a:buFont typeface="Arial"/>
              <a:buNone/>
            </a:pPr>
            <a:r>
              <a:rPr lang="ja">
                <a:solidFill>
                  <a:schemeClr val="dk1"/>
                </a:solidFill>
              </a:rPr>
              <a:t>　→　経済的持続性（運営資金や人がいなくなるとサービスが閉じるのでは？）</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ja">
                <a:solidFill>
                  <a:schemeClr val="dk1"/>
                </a:solidFill>
              </a:rPr>
              <a:t>今後課金が発生することはあるか</a:t>
            </a:r>
            <a:endParaRPr>
              <a:solidFill>
                <a:schemeClr val="dk1"/>
              </a:solidFill>
            </a:endParaRPr>
          </a:p>
          <a:p>
            <a:pPr marL="0" lvl="0" indent="0" algn="l" rtl="0">
              <a:spcBef>
                <a:spcPts val="0"/>
              </a:spcBef>
              <a:spcAft>
                <a:spcPts val="0"/>
              </a:spcAft>
              <a:buClr>
                <a:schemeClr val="dk1"/>
              </a:buClr>
              <a:buSzPts val="1100"/>
              <a:buFont typeface="Arial"/>
              <a:buNone/>
            </a:pPr>
            <a:r>
              <a:rPr lang="ja">
                <a:solidFill>
                  <a:schemeClr val="dk1"/>
                </a:solidFill>
              </a:rPr>
              <a:t>　→個人の飲食店ベースのサービスでマネタイズは難しいと思っています。</a:t>
            </a:r>
            <a:endParaRPr>
              <a:solidFill>
                <a:schemeClr val="dk1"/>
              </a:solidFill>
            </a:endParaRPr>
          </a:p>
          <a:p>
            <a:pPr marL="0" lvl="0" indent="0" algn="l" rtl="0">
              <a:spcBef>
                <a:spcPts val="0"/>
              </a:spcBef>
              <a:spcAft>
                <a:spcPts val="0"/>
              </a:spcAft>
              <a:buClr>
                <a:schemeClr val="dk1"/>
              </a:buClr>
              <a:buSzPts val="1100"/>
              <a:buFont typeface="Arial"/>
              <a:buNone/>
            </a:pPr>
            <a:r>
              <a:rPr lang="ja">
                <a:solidFill>
                  <a:schemeClr val="dk1"/>
                </a:solidFill>
              </a:rPr>
              <a:t>　→そのため飲食店から課金については、現状ではしない方向で考えています。</a:t>
            </a:r>
            <a:endParaRPr>
              <a:solidFill>
                <a:schemeClr val="dk1"/>
              </a:solidFill>
            </a:endParaRPr>
          </a:p>
          <a:p>
            <a:pPr marL="0" lvl="0" indent="0" algn="l" rtl="0">
              <a:spcBef>
                <a:spcPts val="0"/>
              </a:spcBef>
              <a:spcAft>
                <a:spcPts val="0"/>
              </a:spcAft>
              <a:buClr>
                <a:schemeClr val="dk1"/>
              </a:buClr>
              <a:buSzPts val="1100"/>
              <a:buFont typeface="Arial"/>
              <a:buNone/>
            </a:pPr>
            <a:r>
              <a:rPr lang="ja">
                <a:solidFill>
                  <a:schemeClr val="dk1"/>
                </a:solidFill>
              </a:rPr>
              <a:t>　→</a:t>
            </a:r>
            <a:endParaRPr>
              <a:solidFill>
                <a:schemeClr val="dk1"/>
              </a:solidFill>
            </a:endParaRPr>
          </a:p>
          <a:p>
            <a:pPr marL="0" lvl="0" indent="0" algn="l" rtl="0">
              <a:spcBef>
                <a:spcPts val="0"/>
              </a:spcBef>
              <a:spcAft>
                <a:spcPts val="0"/>
              </a:spcAft>
              <a:buNone/>
            </a:pPr>
            <a:r>
              <a:rPr lang="ja">
                <a:solidFill>
                  <a:schemeClr val="dk1"/>
                </a:solidFill>
              </a:rPr>
              <a:t>　→おもちかえり/コロナを通して、特に個人運営の飲食店の苦しい状況を理解し、</a:t>
            </a:r>
            <a:endParaRPr>
              <a:solidFill>
                <a:schemeClr val="dk1"/>
              </a:solidFill>
            </a:endParaRPr>
          </a:p>
          <a:p>
            <a:pPr marL="0" lvl="0" indent="0" algn="l" rtl="0">
              <a:spcBef>
                <a:spcPts val="0"/>
              </a:spcBef>
              <a:spcAft>
                <a:spcPts val="0"/>
              </a:spcAft>
              <a:buNone/>
            </a:pPr>
            <a:r>
              <a:rPr lang="ja">
                <a:solidFill>
                  <a:schemeClr val="dk1"/>
                </a:solidFill>
              </a:rPr>
              <a:t>　→そういう店舗が繁栄して行ってもらいたいという想いで、社会的持続性のためにサービスを提供しています。</a:t>
            </a:r>
            <a:endParaRPr>
              <a:solidFill>
                <a:schemeClr val="dk1"/>
              </a:solidFill>
            </a:endParaRPr>
          </a:p>
          <a:p>
            <a:pPr marL="0" lvl="0" indent="0" algn="l" rtl="0">
              <a:spcBef>
                <a:spcPts val="0"/>
              </a:spcBef>
              <a:spcAft>
                <a:spcPts val="0"/>
              </a:spcAft>
              <a:buNone/>
            </a:pPr>
            <a:r>
              <a:rPr lang="ja">
                <a:solidFill>
                  <a:schemeClr val="dk1"/>
                </a:solidFill>
              </a:rPr>
              <a:t>　→（みなさんも飲食好きだから、という気持ちもあります）</a:t>
            </a:r>
            <a:endParaRPr>
              <a:solidFill>
                <a:schemeClr val="dk1"/>
              </a:solidFill>
            </a:endParaRPr>
          </a:p>
          <a:p>
            <a:pPr marL="0" lvl="0" indent="0" algn="l" rtl="0">
              <a:spcBef>
                <a:spcPts val="0"/>
              </a:spcBef>
              <a:spcAft>
                <a:spcPts val="0"/>
              </a:spcAft>
              <a:buNone/>
            </a:pPr>
            <a:r>
              <a:rPr lang="ja">
                <a:solidFill>
                  <a:schemeClr val="dk1"/>
                </a:solidFill>
              </a:rPr>
              <a:t>　→株式会社ではないので、株主によるマネタイズのためのサービス有料化の圧力もありません</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ja">
                <a:solidFill>
                  <a:schemeClr val="dk1"/>
                </a:solidFill>
              </a:rPr>
              <a:t>運営コストはどうしているのか</a:t>
            </a:r>
            <a:endParaRPr>
              <a:solidFill>
                <a:schemeClr val="dk1"/>
              </a:solidFill>
            </a:endParaRPr>
          </a:p>
          <a:p>
            <a:pPr marL="0" lvl="0" indent="0" algn="l" rtl="0">
              <a:spcBef>
                <a:spcPts val="0"/>
              </a:spcBef>
              <a:spcAft>
                <a:spcPts val="0"/>
              </a:spcAft>
              <a:buNone/>
            </a:pPr>
            <a:r>
              <a:rPr lang="ja">
                <a:solidFill>
                  <a:schemeClr val="dk1"/>
                </a:solidFill>
              </a:rPr>
              <a:t>　→運営コストがほとんど掛からないように作っています。</a:t>
            </a:r>
            <a:endParaRPr>
              <a:solidFill>
                <a:schemeClr val="dk1"/>
              </a:solidFill>
            </a:endParaRPr>
          </a:p>
          <a:p>
            <a:pPr marL="0" lvl="0" indent="0" algn="l" rtl="0">
              <a:spcBef>
                <a:spcPts val="0"/>
              </a:spcBef>
              <a:spcAft>
                <a:spcPts val="0"/>
              </a:spcAft>
              <a:buNone/>
            </a:pPr>
            <a:r>
              <a:rPr lang="ja">
                <a:solidFill>
                  <a:schemeClr val="dk1"/>
                </a:solidFill>
              </a:rPr>
              <a:t>　→急にサービスがなくなることはないです。</a:t>
            </a:r>
            <a:endParaRPr>
              <a:solidFill>
                <a:schemeClr val="dk1"/>
              </a:solidFill>
            </a:endParaRPr>
          </a:p>
          <a:p>
            <a:pPr marL="0" lvl="0" indent="0" algn="l" rtl="0">
              <a:spcBef>
                <a:spcPts val="0"/>
              </a:spcBef>
              <a:spcAft>
                <a:spcPts val="0"/>
              </a:spcAft>
              <a:buNone/>
            </a:pPr>
            <a:r>
              <a:rPr lang="ja">
                <a:solidFill>
                  <a:schemeClr val="dk1"/>
                </a:solidFill>
              </a:rPr>
              <a:t>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ja">
                <a:solidFill>
                  <a:schemeClr val="dk1"/>
                </a:solidFill>
              </a:rPr>
              <a:t>総売上高について、日毎の金額はいくらか</a:t>
            </a:r>
            <a:endParaRPr>
              <a:solidFill>
                <a:schemeClr val="dk1"/>
              </a:solidFill>
            </a:endParaRPr>
          </a:p>
          <a:p>
            <a:pPr marL="0" lvl="0" indent="0" algn="l" rtl="0">
              <a:spcBef>
                <a:spcPts val="0"/>
              </a:spcBef>
              <a:spcAft>
                <a:spcPts val="0"/>
              </a:spcAft>
              <a:buNone/>
            </a:pPr>
            <a:r>
              <a:rPr lang="ja">
                <a:solidFill>
                  <a:schemeClr val="dk1"/>
                </a:solidFill>
              </a:rPr>
              <a:t>　→あまり多くはないのですが平均して30〜40万円です。</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ja">
                <a:solidFill>
                  <a:schemeClr val="dk1"/>
                </a:solidFill>
              </a:rPr>
              <a:t>ステージングでのデモ</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ja">
                <a:solidFill>
                  <a:schemeClr val="dk1"/>
                </a:solidFill>
              </a:rPr>
              <a:t>もし府中で広く展開できるようであれば、府中市専用ページを作ることもできるので、府中の飲食店を一緒に盛り上げていけたら嬉しいなと思います。</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992767"/>
            <a:ext cx="8520600" cy="2736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pic>
        <p:nvPicPr>
          <p:cNvPr id="20" name="Google Shape;20;p4"/>
          <p:cNvPicPr preferRelativeResize="0"/>
          <p:nvPr/>
        </p:nvPicPr>
        <p:blipFill>
          <a:blip r:embed="rId2">
            <a:alphaModFix/>
          </a:blip>
          <a:stretch>
            <a:fillRect/>
          </a:stretch>
        </p:blipFill>
        <p:spPr>
          <a:xfrm>
            <a:off x="6360524" y="6271502"/>
            <a:ext cx="2340524" cy="3425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5"/>
          <p:cNvSpPr txBox="1">
            <a:spLocks noGrp="1"/>
          </p:cNvSpPr>
          <p:nvPr>
            <p:ph type="body" idx="1"/>
          </p:nvPr>
        </p:nvSpPr>
        <p:spPr>
          <a:xfrm>
            <a:off x="3117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7"/>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5" name="Google Shape;35;p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9"/>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9"/>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9"/>
          <p:cNvSpPr txBox="1">
            <a:spLocks noGrp="1"/>
          </p:cNvSpPr>
          <p:nvPr>
            <p:ph type="body" idx="2"/>
          </p:nvPr>
        </p:nvSpPr>
        <p:spPr>
          <a:xfrm>
            <a:off x="4939500" y="965433"/>
            <a:ext cx="3837000" cy="49269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1" name="Google Shape;41;p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4" name="Google Shape;44;p1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1"/>
          <p:cNvSpPr txBox="1">
            <a:spLocks noGrp="1"/>
          </p:cNvSpPr>
          <p:nvPr>
            <p:ph type="title" hasCustomPrompt="1"/>
          </p:nvPr>
        </p:nvSpPr>
        <p:spPr>
          <a:xfrm>
            <a:off x="311700" y="1474833"/>
            <a:ext cx="8520600" cy="26181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a:spLocks noGrp="1"/>
          </p:cNvSpPr>
          <p:nvPr>
            <p:ph type="body" idx="1"/>
          </p:nvPr>
        </p:nvSpPr>
        <p:spPr>
          <a:xfrm>
            <a:off x="311700" y="4202967"/>
            <a:ext cx="8520600" cy="17343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8" name="Google Shape;48;p1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www.singularitysociety.org"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hyperlink" Target="https://singularitysociety.org/projects/bus20/"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hyperlink" Target="https://singularitysociety.org/projects/web3/" TargetMode="External"/><Relationship Id="rId5" Type="http://schemas.openxmlformats.org/officeDocument/2006/relationships/hyperlink" Target="https://singularitysociety.org/projects/ai/" TargetMode="External"/><Relationship Id="rId4" Type="http://schemas.openxmlformats.org/officeDocument/2006/relationships/hyperlink" Target="https://singularitysociety.org/activities/bootcamp/"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3"/>
          <p:cNvSpPr/>
          <p:nvPr/>
        </p:nvSpPr>
        <p:spPr>
          <a:xfrm>
            <a:off x="-5250" y="4380575"/>
            <a:ext cx="9154500" cy="2477400"/>
          </a:xfrm>
          <a:prstGeom prst="rect">
            <a:avLst/>
          </a:prstGeom>
          <a:solidFill>
            <a:srgbClr val="FBC02D"/>
          </a:solidFill>
          <a:ln w="9525" cap="flat" cmpd="sng">
            <a:solidFill>
              <a:srgbClr val="FBC0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6" name="Google Shape;56;p13"/>
          <p:cNvPicPr preferRelativeResize="0"/>
          <p:nvPr/>
        </p:nvPicPr>
        <p:blipFill>
          <a:blip r:embed="rId3">
            <a:alphaModFix/>
          </a:blip>
          <a:stretch>
            <a:fillRect/>
          </a:stretch>
        </p:blipFill>
        <p:spPr>
          <a:xfrm>
            <a:off x="720973" y="2864663"/>
            <a:ext cx="7712549" cy="1128675"/>
          </a:xfrm>
          <a:prstGeom prst="rect">
            <a:avLst/>
          </a:prstGeom>
          <a:noFill/>
          <a:ln>
            <a:noFill/>
          </a:ln>
        </p:spPr>
      </p:pic>
      <p:pic>
        <p:nvPicPr>
          <p:cNvPr id="57" name="Google Shape;57;p13"/>
          <p:cNvPicPr preferRelativeResize="0"/>
          <p:nvPr/>
        </p:nvPicPr>
        <p:blipFill>
          <a:blip r:embed="rId4">
            <a:alphaModFix/>
          </a:blip>
          <a:stretch>
            <a:fillRect/>
          </a:stretch>
        </p:blipFill>
        <p:spPr>
          <a:xfrm>
            <a:off x="0" y="0"/>
            <a:ext cx="9154500" cy="2477429"/>
          </a:xfrm>
          <a:prstGeom prst="rect">
            <a:avLst/>
          </a:prstGeom>
          <a:noFill/>
          <a:ln>
            <a:noFill/>
          </a:ln>
        </p:spPr>
      </p:pic>
      <p:pic>
        <p:nvPicPr>
          <p:cNvPr id="58" name="Google Shape;58;p13"/>
          <p:cNvPicPr preferRelativeResize="0"/>
          <p:nvPr/>
        </p:nvPicPr>
        <p:blipFill>
          <a:blip r:embed="rId5">
            <a:alphaModFix/>
          </a:blip>
          <a:stretch>
            <a:fillRect/>
          </a:stretch>
        </p:blipFill>
        <p:spPr>
          <a:xfrm>
            <a:off x="790900" y="4380600"/>
            <a:ext cx="7572705" cy="2477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655850" y="707450"/>
            <a:ext cx="7870200" cy="7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b="1">
                <a:solidFill>
                  <a:srgbClr val="5F5F5F"/>
                </a:solidFill>
              </a:rPr>
              <a:t>本日お話すること</a:t>
            </a:r>
            <a:endParaRPr b="1">
              <a:solidFill>
                <a:srgbClr val="5F5F5F"/>
              </a:solidFill>
            </a:endParaRPr>
          </a:p>
        </p:txBody>
      </p:sp>
      <p:sp>
        <p:nvSpPr>
          <p:cNvPr id="64" name="Google Shape;64;p14"/>
          <p:cNvSpPr txBox="1">
            <a:spLocks noGrp="1"/>
          </p:cNvSpPr>
          <p:nvPr>
            <p:ph type="body" idx="1"/>
          </p:nvPr>
        </p:nvSpPr>
        <p:spPr>
          <a:xfrm>
            <a:off x="655850" y="1536625"/>
            <a:ext cx="7870200" cy="3102900"/>
          </a:xfrm>
          <a:prstGeom prst="rect">
            <a:avLst/>
          </a:prstGeom>
        </p:spPr>
        <p:txBody>
          <a:bodyPr spcFirstLastPara="1" wrap="square" lIns="91425" tIns="91425" rIns="91425" bIns="91425" anchor="t" anchorCtr="0">
            <a:normAutofit/>
          </a:bodyPr>
          <a:lstStyle/>
          <a:p>
            <a:pPr marL="457200" lvl="0" indent="-368300" algn="l" rtl="0">
              <a:lnSpc>
                <a:spcPct val="95000"/>
              </a:lnSpc>
              <a:spcBef>
                <a:spcPts val="0"/>
              </a:spcBef>
              <a:spcAft>
                <a:spcPts val="0"/>
              </a:spcAft>
              <a:buSzPts val="2200"/>
              <a:buChar char="●"/>
            </a:pPr>
            <a:r>
              <a:rPr lang="ja" sz="2200"/>
              <a:t>サービス概要と特徴</a:t>
            </a:r>
            <a:endParaRPr sz="2200"/>
          </a:p>
          <a:p>
            <a:pPr marL="457200" lvl="0" indent="-368300" algn="l" rtl="0">
              <a:lnSpc>
                <a:spcPct val="95000"/>
              </a:lnSpc>
              <a:spcBef>
                <a:spcPts val="0"/>
              </a:spcBef>
              <a:spcAft>
                <a:spcPts val="0"/>
              </a:spcAft>
              <a:buSzPts val="2200"/>
              <a:buChar char="●"/>
            </a:pPr>
            <a:r>
              <a:rPr lang="ja" sz="2200"/>
              <a:t>利用実績</a:t>
            </a:r>
            <a:endParaRPr sz="2200"/>
          </a:p>
          <a:p>
            <a:pPr marL="457200" lvl="0" indent="-368300" algn="l" rtl="0">
              <a:lnSpc>
                <a:spcPct val="95000"/>
              </a:lnSpc>
              <a:spcBef>
                <a:spcPts val="0"/>
              </a:spcBef>
              <a:spcAft>
                <a:spcPts val="0"/>
              </a:spcAft>
              <a:buSzPts val="2200"/>
              <a:buChar char="●"/>
            </a:pPr>
            <a:r>
              <a:rPr lang="ja" sz="2200"/>
              <a:t>サービス立ち上げの背景</a:t>
            </a:r>
            <a:endParaRPr sz="2200"/>
          </a:p>
          <a:p>
            <a:pPr marL="457200" lvl="0" indent="-368300" algn="l" rtl="0">
              <a:lnSpc>
                <a:spcPct val="95000"/>
              </a:lnSpc>
              <a:spcBef>
                <a:spcPts val="0"/>
              </a:spcBef>
              <a:spcAft>
                <a:spcPts val="0"/>
              </a:spcAft>
              <a:buSzPts val="2200"/>
              <a:buChar char="●"/>
            </a:pPr>
            <a:r>
              <a:rPr lang="ja" sz="2200"/>
              <a:t>個人情報の保護とセキュリティについて</a:t>
            </a:r>
            <a:endParaRPr sz="2200"/>
          </a:p>
          <a:p>
            <a:pPr marL="457200" lvl="0" indent="-368300" algn="l" rtl="0">
              <a:lnSpc>
                <a:spcPct val="95000"/>
              </a:lnSpc>
              <a:spcBef>
                <a:spcPts val="0"/>
              </a:spcBef>
              <a:spcAft>
                <a:spcPts val="0"/>
              </a:spcAft>
              <a:buSzPts val="2200"/>
              <a:buChar char="●"/>
            </a:pPr>
            <a:r>
              <a:rPr lang="ja" sz="2200"/>
              <a:t>シンギュラリティ・ソサエティについて</a:t>
            </a:r>
            <a:endParaRPr sz="2200"/>
          </a:p>
          <a:p>
            <a:pPr marL="457200" lvl="0" indent="-368300" algn="l" rtl="0">
              <a:lnSpc>
                <a:spcPct val="95000"/>
              </a:lnSpc>
              <a:spcBef>
                <a:spcPts val="0"/>
              </a:spcBef>
              <a:spcAft>
                <a:spcPts val="0"/>
              </a:spcAft>
              <a:buSzPts val="2200"/>
              <a:buChar char="●"/>
            </a:pPr>
            <a:r>
              <a:rPr lang="ja" sz="2200"/>
              <a:t>補足資料：利用者の声</a:t>
            </a:r>
            <a:endParaRPr sz="2200"/>
          </a:p>
          <a:p>
            <a:pPr marL="457200" lvl="0" indent="-368300" algn="l" rtl="0">
              <a:lnSpc>
                <a:spcPct val="95000"/>
              </a:lnSpc>
              <a:spcBef>
                <a:spcPts val="0"/>
              </a:spcBef>
              <a:spcAft>
                <a:spcPts val="0"/>
              </a:spcAft>
              <a:buSzPts val="2200"/>
              <a:buChar char="●"/>
            </a:pPr>
            <a:r>
              <a:rPr lang="ja" sz="2200"/>
              <a:t>補足資料：機能一覧</a:t>
            </a:r>
            <a:endParaRPr sz="2200"/>
          </a:p>
          <a:p>
            <a:pPr marL="457200" lvl="0" indent="-368300" algn="l" rtl="0">
              <a:lnSpc>
                <a:spcPct val="95000"/>
              </a:lnSpc>
              <a:spcBef>
                <a:spcPts val="0"/>
              </a:spcBef>
              <a:spcAft>
                <a:spcPts val="0"/>
              </a:spcAft>
              <a:buSzPts val="2200"/>
              <a:buChar char="●"/>
            </a:pPr>
            <a:r>
              <a:rPr lang="ja" sz="2200"/>
              <a:t>デモ</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655850" y="707450"/>
            <a:ext cx="7870200" cy="7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b="1">
                <a:solidFill>
                  <a:srgbClr val="5F5F5F"/>
                </a:solidFill>
              </a:rPr>
              <a:t>サービス概要と特徴</a:t>
            </a:r>
            <a:endParaRPr b="1">
              <a:solidFill>
                <a:srgbClr val="5F5F5F"/>
              </a:solidFill>
            </a:endParaRPr>
          </a:p>
        </p:txBody>
      </p:sp>
      <p:sp>
        <p:nvSpPr>
          <p:cNvPr id="70" name="Google Shape;70;p15"/>
          <p:cNvSpPr txBox="1">
            <a:spLocks noGrp="1"/>
          </p:cNvSpPr>
          <p:nvPr>
            <p:ph type="body" idx="1"/>
          </p:nvPr>
        </p:nvSpPr>
        <p:spPr>
          <a:xfrm>
            <a:off x="655850" y="1536625"/>
            <a:ext cx="7870200" cy="21918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ja" sz="3176"/>
              <a:t>おもちかえり.comは、初期費用やシステム利用料などが一切かからないテイクアウト支援サービスです。</a:t>
            </a:r>
            <a:endParaRPr sz="3176"/>
          </a:p>
          <a:p>
            <a:pPr marL="0" lvl="0" indent="0" algn="l" rtl="0">
              <a:spcBef>
                <a:spcPts val="1200"/>
              </a:spcBef>
              <a:spcAft>
                <a:spcPts val="0"/>
              </a:spcAft>
              <a:buNone/>
            </a:pPr>
            <a:r>
              <a:rPr lang="ja" sz="3176"/>
              <a:t>一般社団法人シンギュラリティ・ソサイエティが開発・運営しています。</a:t>
            </a:r>
            <a:endParaRPr sz="2095"/>
          </a:p>
          <a:p>
            <a:pPr marL="0" lvl="0" indent="0" algn="l" rtl="0">
              <a:spcBef>
                <a:spcPts val="1200"/>
              </a:spcBef>
              <a:spcAft>
                <a:spcPts val="1200"/>
              </a:spcAft>
              <a:buNone/>
            </a:pPr>
            <a:endParaRPr sz="3085"/>
          </a:p>
        </p:txBody>
      </p:sp>
      <p:pic>
        <p:nvPicPr>
          <p:cNvPr id="71" name="Google Shape;71;p15"/>
          <p:cNvPicPr preferRelativeResize="0"/>
          <p:nvPr/>
        </p:nvPicPr>
        <p:blipFill>
          <a:blip r:embed="rId3">
            <a:alphaModFix/>
          </a:blip>
          <a:stretch>
            <a:fillRect/>
          </a:stretch>
        </p:blipFill>
        <p:spPr>
          <a:xfrm>
            <a:off x="1133988" y="3801300"/>
            <a:ext cx="6913929" cy="781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655850" y="707450"/>
            <a:ext cx="7870200" cy="7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b="1">
                <a:solidFill>
                  <a:srgbClr val="5F5F5F"/>
                </a:solidFill>
              </a:rPr>
              <a:t>サービス概要と特徴</a:t>
            </a:r>
            <a:endParaRPr b="1">
              <a:solidFill>
                <a:srgbClr val="5F5F5F"/>
              </a:solidFill>
            </a:endParaRPr>
          </a:p>
        </p:txBody>
      </p:sp>
      <p:sp>
        <p:nvSpPr>
          <p:cNvPr id="77" name="Google Shape;77;p16"/>
          <p:cNvSpPr txBox="1">
            <a:spLocks noGrp="1"/>
          </p:cNvSpPr>
          <p:nvPr>
            <p:ph type="body" idx="1"/>
          </p:nvPr>
        </p:nvSpPr>
        <p:spPr>
          <a:xfrm>
            <a:off x="655850" y="1536625"/>
            <a:ext cx="7870200" cy="43947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ja" sz="2268"/>
              <a:t>おもちかえり.comでは、飲食店等がテイクアウトの受注や決済可能なWebページを簡単に、無料(※)で設置することができます。</a:t>
            </a:r>
            <a:endParaRPr sz="2268"/>
          </a:p>
          <a:p>
            <a:pPr marL="0" lvl="0" indent="0" algn="l" rtl="0">
              <a:spcBef>
                <a:spcPts val="1200"/>
              </a:spcBef>
              <a:spcAft>
                <a:spcPts val="0"/>
              </a:spcAft>
              <a:buNone/>
            </a:pPr>
            <a:endParaRPr sz="3176"/>
          </a:p>
          <a:p>
            <a:pPr marL="0" lvl="0" indent="0" algn="l" rtl="0">
              <a:spcBef>
                <a:spcPts val="1200"/>
              </a:spcBef>
              <a:spcAft>
                <a:spcPts val="0"/>
              </a:spcAft>
              <a:buNone/>
            </a:pPr>
            <a:endParaRPr sz="3176"/>
          </a:p>
          <a:p>
            <a:pPr marL="0" lvl="0" indent="0" algn="l" rtl="0">
              <a:spcBef>
                <a:spcPts val="1200"/>
              </a:spcBef>
              <a:spcAft>
                <a:spcPts val="0"/>
              </a:spcAft>
              <a:buNone/>
            </a:pPr>
            <a:endParaRPr sz="2200"/>
          </a:p>
          <a:p>
            <a:pPr marL="0" lvl="0" indent="0" algn="l" rtl="0">
              <a:spcBef>
                <a:spcPts val="1200"/>
              </a:spcBef>
              <a:spcAft>
                <a:spcPts val="0"/>
              </a:spcAft>
              <a:buNone/>
            </a:pPr>
            <a:r>
              <a:rPr lang="ja" sz="2200"/>
              <a:t>他の有料サービスに劣らない機能を提供しています。</a:t>
            </a:r>
            <a:endParaRPr sz="2200"/>
          </a:p>
          <a:p>
            <a:pPr marL="0" lvl="0" indent="0" algn="l" rtl="0">
              <a:spcBef>
                <a:spcPts val="1200"/>
              </a:spcBef>
              <a:spcAft>
                <a:spcPts val="1200"/>
              </a:spcAft>
              <a:buNone/>
            </a:pPr>
            <a:r>
              <a:rPr lang="ja" sz="1642"/>
              <a:t>※ 当サービスでは、オンライン決済に外部サービス Stripe を採用しており</a:t>
            </a:r>
            <a:br>
              <a:rPr lang="ja" sz="1642"/>
            </a:br>
            <a:r>
              <a:rPr lang="ja" sz="1642"/>
              <a:t>　 売上代金の3.6%の決済手数料がかかります。オンライン決済を設定せず、</a:t>
            </a:r>
            <a:br>
              <a:rPr lang="ja" sz="1642"/>
            </a:br>
            <a:r>
              <a:rPr lang="ja" sz="1642"/>
              <a:t>　 受取払い（現金や既にご導入いただいている電子マネー決済）と併用できます。</a:t>
            </a:r>
            <a:endParaRPr sz="1621"/>
          </a:p>
        </p:txBody>
      </p:sp>
      <p:sp>
        <p:nvSpPr>
          <p:cNvPr id="78" name="Google Shape;78;p16"/>
          <p:cNvSpPr/>
          <p:nvPr/>
        </p:nvSpPr>
        <p:spPr>
          <a:xfrm>
            <a:off x="736725" y="3092325"/>
            <a:ext cx="1782300" cy="884100"/>
          </a:xfrm>
          <a:prstGeom prst="homePlate">
            <a:avLst>
              <a:gd name="adj" fmla="val 50000"/>
            </a:avLst>
          </a:prstGeom>
          <a:solidFill>
            <a:srgbClr val="FBC02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sz="1800" b="1">
                <a:solidFill>
                  <a:schemeClr val="lt1"/>
                </a:solidFill>
              </a:rPr>
              <a:t>アカウント</a:t>
            </a:r>
            <a:br>
              <a:rPr lang="ja" sz="1800" b="1">
                <a:solidFill>
                  <a:schemeClr val="lt1"/>
                </a:solidFill>
              </a:rPr>
            </a:br>
            <a:r>
              <a:rPr lang="ja" sz="1800" b="1">
                <a:solidFill>
                  <a:schemeClr val="lt1"/>
                </a:solidFill>
              </a:rPr>
              <a:t>作成</a:t>
            </a:r>
            <a:endParaRPr sz="1800" b="1">
              <a:solidFill>
                <a:schemeClr val="lt1"/>
              </a:solidFill>
            </a:endParaRPr>
          </a:p>
        </p:txBody>
      </p:sp>
      <p:sp>
        <p:nvSpPr>
          <p:cNvPr id="79" name="Google Shape;79;p16"/>
          <p:cNvSpPr/>
          <p:nvPr/>
        </p:nvSpPr>
        <p:spPr>
          <a:xfrm>
            <a:off x="2595225" y="3092325"/>
            <a:ext cx="2071800" cy="884100"/>
          </a:xfrm>
          <a:prstGeom prst="homePlate">
            <a:avLst>
              <a:gd name="adj" fmla="val 50000"/>
            </a:avLst>
          </a:prstGeom>
          <a:solidFill>
            <a:srgbClr val="FBC02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sz="1800" b="1">
                <a:solidFill>
                  <a:schemeClr val="lt1"/>
                </a:solidFill>
              </a:rPr>
              <a:t>お店情報設定</a:t>
            </a:r>
            <a:br>
              <a:rPr lang="ja" sz="1800" b="1">
                <a:solidFill>
                  <a:schemeClr val="lt1"/>
                </a:solidFill>
              </a:rPr>
            </a:br>
            <a:r>
              <a:rPr lang="ja" sz="1800" b="1">
                <a:solidFill>
                  <a:schemeClr val="lt1"/>
                </a:solidFill>
              </a:rPr>
              <a:t>メニュー登録</a:t>
            </a:r>
            <a:endParaRPr sz="1800" b="1">
              <a:solidFill>
                <a:schemeClr val="lt1"/>
              </a:solidFill>
            </a:endParaRPr>
          </a:p>
        </p:txBody>
      </p:sp>
      <p:sp>
        <p:nvSpPr>
          <p:cNvPr id="80" name="Google Shape;80;p16"/>
          <p:cNvSpPr/>
          <p:nvPr/>
        </p:nvSpPr>
        <p:spPr>
          <a:xfrm>
            <a:off x="4743175" y="3092325"/>
            <a:ext cx="1872300" cy="884100"/>
          </a:xfrm>
          <a:prstGeom prst="homePlate">
            <a:avLst>
              <a:gd name="adj" fmla="val 50000"/>
            </a:avLst>
          </a:prstGeom>
          <a:solidFill>
            <a:srgbClr val="FBC02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sz="1800" b="1">
                <a:solidFill>
                  <a:schemeClr val="lt1"/>
                </a:solidFill>
              </a:rPr>
              <a:t>お支払い情報</a:t>
            </a:r>
            <a:endParaRPr sz="1800" b="1">
              <a:solidFill>
                <a:schemeClr val="lt1"/>
              </a:solidFill>
            </a:endParaRPr>
          </a:p>
          <a:p>
            <a:pPr marL="0" lvl="0" indent="0" algn="ctr" rtl="0">
              <a:spcBef>
                <a:spcPts val="0"/>
              </a:spcBef>
              <a:spcAft>
                <a:spcPts val="0"/>
              </a:spcAft>
              <a:buNone/>
            </a:pPr>
            <a:r>
              <a:rPr lang="ja" sz="1800" b="1">
                <a:solidFill>
                  <a:schemeClr val="lt1"/>
                </a:solidFill>
              </a:rPr>
              <a:t>設定</a:t>
            </a:r>
            <a:endParaRPr sz="1800" b="1">
              <a:solidFill>
                <a:schemeClr val="lt1"/>
              </a:solidFill>
            </a:endParaRPr>
          </a:p>
        </p:txBody>
      </p:sp>
      <p:sp>
        <p:nvSpPr>
          <p:cNvPr id="81" name="Google Shape;81;p16"/>
          <p:cNvSpPr/>
          <p:nvPr/>
        </p:nvSpPr>
        <p:spPr>
          <a:xfrm>
            <a:off x="6682275" y="3092325"/>
            <a:ext cx="1725000" cy="884100"/>
          </a:xfrm>
          <a:prstGeom prst="homePlate">
            <a:avLst>
              <a:gd name="adj" fmla="val 50000"/>
            </a:avLst>
          </a:prstGeom>
          <a:solidFill>
            <a:srgbClr val="FBC02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sz="1800" b="1">
                <a:solidFill>
                  <a:schemeClr val="lt1"/>
                </a:solidFill>
              </a:rPr>
              <a:t>即日開始！</a:t>
            </a:r>
            <a:endParaRPr sz="1800" b="1">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655850" y="707450"/>
            <a:ext cx="7870200" cy="7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b="1">
                <a:solidFill>
                  <a:srgbClr val="5F5F5F"/>
                </a:solidFill>
              </a:rPr>
              <a:t>サービス立ち上げ背景</a:t>
            </a:r>
            <a:endParaRPr b="1">
              <a:solidFill>
                <a:srgbClr val="5F5F5F"/>
              </a:solidFill>
            </a:endParaRPr>
          </a:p>
        </p:txBody>
      </p:sp>
      <p:sp>
        <p:nvSpPr>
          <p:cNvPr id="95" name="Google Shape;95;p18"/>
          <p:cNvSpPr txBox="1">
            <a:spLocks noGrp="1"/>
          </p:cNvSpPr>
          <p:nvPr>
            <p:ph type="body" idx="1"/>
          </p:nvPr>
        </p:nvSpPr>
        <p:spPr>
          <a:xfrm>
            <a:off x="655850" y="1536625"/>
            <a:ext cx="7870200" cy="4197000"/>
          </a:xfrm>
          <a:prstGeom prst="rect">
            <a:avLst/>
          </a:prstGeom>
        </p:spPr>
        <p:txBody>
          <a:bodyPr spcFirstLastPara="1" wrap="square" lIns="91425" tIns="91425" rIns="91425" bIns="91425" anchor="t" anchorCtr="0">
            <a:normAutofit/>
          </a:bodyPr>
          <a:lstStyle/>
          <a:p>
            <a:pPr marL="0" lvl="0" indent="0" algn="l" rtl="0">
              <a:lnSpc>
                <a:spcPct val="95000"/>
              </a:lnSpc>
              <a:spcBef>
                <a:spcPts val="0"/>
              </a:spcBef>
              <a:spcAft>
                <a:spcPts val="0"/>
              </a:spcAft>
              <a:buNone/>
            </a:pPr>
            <a:r>
              <a:rPr lang="ja" sz="2171"/>
              <a:t>おもちかえり.comは、新型コロナウイルスで多大な影響を</a:t>
            </a:r>
            <a:br>
              <a:rPr lang="ja" sz="2171"/>
            </a:br>
            <a:r>
              <a:rPr lang="ja" sz="2171"/>
              <a:t>受けた飲食店を支援する目的で立ち上げました。</a:t>
            </a:r>
            <a:endParaRPr sz="2171"/>
          </a:p>
          <a:p>
            <a:pPr marL="0" lvl="0" indent="0" algn="l" rtl="0">
              <a:lnSpc>
                <a:spcPct val="95000"/>
              </a:lnSpc>
              <a:spcBef>
                <a:spcPts val="1200"/>
              </a:spcBef>
              <a:spcAft>
                <a:spcPts val="0"/>
              </a:spcAft>
              <a:buClr>
                <a:schemeClr val="dk1"/>
              </a:buClr>
              <a:buSzPts val="523"/>
              <a:buFont typeface="Arial"/>
              <a:buNone/>
            </a:pPr>
            <a:r>
              <a:rPr lang="ja" sz="2171"/>
              <a:t>以下のことができます</a:t>
            </a:r>
            <a:endParaRPr sz="2171"/>
          </a:p>
          <a:p>
            <a:pPr marL="457200" lvl="0" indent="-366495" algn="l" rtl="0">
              <a:lnSpc>
                <a:spcPct val="95000"/>
              </a:lnSpc>
              <a:spcBef>
                <a:spcPts val="1200"/>
              </a:spcBef>
              <a:spcAft>
                <a:spcPts val="0"/>
              </a:spcAft>
              <a:buSzPts val="2172"/>
              <a:buChar char="●"/>
            </a:pPr>
            <a:r>
              <a:rPr lang="ja" sz="2171"/>
              <a:t>Web制作会社などのコンサルに頼らず自身で店舗ページを即日作成</a:t>
            </a:r>
            <a:endParaRPr sz="2171"/>
          </a:p>
          <a:p>
            <a:pPr marL="457200" lvl="0" indent="-366495" algn="l" rtl="0">
              <a:lnSpc>
                <a:spcPct val="95000"/>
              </a:lnSpc>
              <a:spcBef>
                <a:spcPts val="0"/>
              </a:spcBef>
              <a:spcAft>
                <a:spcPts val="0"/>
              </a:spcAft>
              <a:buSzPts val="2172"/>
              <a:buChar char="●"/>
            </a:pPr>
            <a:r>
              <a:rPr lang="ja" sz="2171"/>
              <a:t>クレジットカード決済が即日で利用開始</a:t>
            </a:r>
            <a:endParaRPr sz="2171"/>
          </a:p>
          <a:p>
            <a:pPr marL="457200" lvl="0" indent="-366495" algn="l" rtl="0">
              <a:lnSpc>
                <a:spcPct val="95000"/>
              </a:lnSpc>
              <a:spcBef>
                <a:spcPts val="0"/>
              </a:spcBef>
              <a:spcAft>
                <a:spcPts val="0"/>
              </a:spcAft>
              <a:buSzPts val="2172"/>
              <a:buChar char="●"/>
            </a:pPr>
            <a:r>
              <a:rPr lang="ja" sz="2171"/>
              <a:t>シンプルで直感的な操作</a:t>
            </a:r>
            <a:endParaRPr sz="2171"/>
          </a:p>
          <a:p>
            <a:pPr marL="457200" lvl="0" indent="-347445" algn="l" rtl="0">
              <a:lnSpc>
                <a:spcPct val="95000"/>
              </a:lnSpc>
              <a:spcBef>
                <a:spcPts val="0"/>
              </a:spcBef>
              <a:spcAft>
                <a:spcPts val="0"/>
              </a:spcAft>
              <a:buSzPts val="1872"/>
              <a:buChar char="●"/>
            </a:pPr>
            <a:r>
              <a:rPr lang="ja" sz="2171"/>
              <a:t>手数料がかからない</a:t>
            </a:r>
            <a:br>
              <a:rPr lang="ja" sz="1871"/>
            </a:br>
            <a:r>
              <a:rPr lang="ja" sz="1871"/>
              <a:t>※</a:t>
            </a:r>
            <a:r>
              <a:rPr lang="ja" sz="1471"/>
              <a:t>クレジットカード決済の手数料がかかります。当団体への手数料ではございません</a:t>
            </a:r>
            <a:endParaRPr sz="1471"/>
          </a:p>
          <a:p>
            <a:pPr marL="457200" lvl="0" indent="-366495" algn="l" rtl="0">
              <a:lnSpc>
                <a:spcPct val="95000"/>
              </a:lnSpc>
              <a:spcBef>
                <a:spcPts val="0"/>
              </a:spcBef>
              <a:spcAft>
                <a:spcPts val="0"/>
              </a:spcAft>
              <a:buSzPts val="2172"/>
              <a:buChar char="●"/>
            </a:pPr>
            <a:r>
              <a:rPr lang="ja" sz="2171"/>
              <a:t>飲食店からのフィードバックをすぐに反映</a:t>
            </a:r>
            <a:endParaRPr sz="338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9"/>
          <p:cNvSpPr txBox="1">
            <a:spLocks noGrp="1"/>
          </p:cNvSpPr>
          <p:nvPr>
            <p:ph type="title"/>
          </p:nvPr>
        </p:nvSpPr>
        <p:spPr>
          <a:xfrm>
            <a:off x="655850" y="707450"/>
            <a:ext cx="7870200" cy="7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b="1">
                <a:solidFill>
                  <a:srgbClr val="5F5F5F"/>
                </a:solidFill>
              </a:rPr>
              <a:t>サービス立ち上げ背景</a:t>
            </a:r>
            <a:endParaRPr b="1">
              <a:solidFill>
                <a:srgbClr val="5F5F5F"/>
              </a:solidFill>
            </a:endParaRPr>
          </a:p>
        </p:txBody>
      </p:sp>
      <p:sp>
        <p:nvSpPr>
          <p:cNvPr id="101" name="Google Shape;101;p19"/>
          <p:cNvSpPr txBox="1">
            <a:spLocks noGrp="1"/>
          </p:cNvSpPr>
          <p:nvPr>
            <p:ph type="body" idx="1"/>
          </p:nvPr>
        </p:nvSpPr>
        <p:spPr>
          <a:xfrm>
            <a:off x="655850" y="1536625"/>
            <a:ext cx="7870200" cy="1892400"/>
          </a:xfrm>
          <a:prstGeom prst="rect">
            <a:avLst/>
          </a:prstGeom>
        </p:spPr>
        <p:txBody>
          <a:bodyPr spcFirstLastPara="1" wrap="square" lIns="91425" tIns="91425" rIns="91425" bIns="91425" anchor="t" anchorCtr="0">
            <a:normAutofit/>
          </a:bodyPr>
          <a:lstStyle/>
          <a:p>
            <a:pPr marL="0" lvl="0" indent="0" algn="l" rtl="0">
              <a:lnSpc>
                <a:spcPct val="95000"/>
              </a:lnSpc>
              <a:spcBef>
                <a:spcPts val="0"/>
              </a:spcBef>
              <a:spcAft>
                <a:spcPts val="0"/>
              </a:spcAft>
              <a:buNone/>
            </a:pPr>
            <a:r>
              <a:rPr lang="ja" sz="1871" b="1"/>
              <a:t>開発・運用チーム</a:t>
            </a:r>
            <a:endParaRPr sz="1871" b="1"/>
          </a:p>
          <a:p>
            <a:pPr marL="0" lvl="0" indent="0" algn="l" rtl="0">
              <a:lnSpc>
                <a:spcPct val="95000"/>
              </a:lnSpc>
              <a:spcBef>
                <a:spcPts val="1200"/>
              </a:spcBef>
              <a:spcAft>
                <a:spcPts val="0"/>
              </a:spcAft>
              <a:buNone/>
            </a:pPr>
            <a:r>
              <a:rPr lang="ja" sz="1871"/>
              <a:t>国内や米国で活躍しているエンジニアが開発・運用しています。</a:t>
            </a:r>
            <a:endParaRPr sz="1871"/>
          </a:p>
          <a:p>
            <a:pPr marL="0" lvl="0" indent="0" algn="l" rtl="0">
              <a:lnSpc>
                <a:spcPct val="95000"/>
              </a:lnSpc>
              <a:spcBef>
                <a:spcPts val="1200"/>
              </a:spcBef>
              <a:spcAft>
                <a:spcPts val="1200"/>
              </a:spcAft>
              <a:buNone/>
            </a:pPr>
            <a:r>
              <a:rPr lang="ja" sz="1871"/>
              <a:t>飲食店が負担をかけずにテイクアウトサービスがはじめられるように</a:t>
            </a:r>
            <a:br>
              <a:rPr lang="ja" sz="1871"/>
            </a:br>
            <a:r>
              <a:rPr lang="ja" sz="1871"/>
              <a:t>という思いで開発しています。</a:t>
            </a:r>
            <a:endParaRPr sz="1871"/>
          </a:p>
        </p:txBody>
      </p:sp>
      <p:pic>
        <p:nvPicPr>
          <p:cNvPr id="102" name="Google Shape;102;p19"/>
          <p:cNvPicPr preferRelativeResize="0"/>
          <p:nvPr/>
        </p:nvPicPr>
        <p:blipFill rotWithShape="1">
          <a:blip r:embed="rId3">
            <a:alphaModFix/>
          </a:blip>
          <a:srcRect b="9999"/>
          <a:stretch/>
        </p:blipFill>
        <p:spPr>
          <a:xfrm>
            <a:off x="729375" y="3319525"/>
            <a:ext cx="2808800" cy="2701025"/>
          </a:xfrm>
          <a:prstGeom prst="rect">
            <a:avLst/>
          </a:prstGeom>
          <a:noFill/>
          <a:ln w="9525" cap="flat" cmpd="sng">
            <a:solidFill>
              <a:srgbClr val="B7B7B7"/>
            </a:solidFill>
            <a:prstDash val="solid"/>
            <a:round/>
            <a:headEnd type="none" w="sm" len="sm"/>
            <a:tailEnd type="none" w="sm" len="sm"/>
          </a:ln>
        </p:spPr>
      </p:pic>
      <p:sp>
        <p:nvSpPr>
          <p:cNvPr id="103" name="Google Shape;103;p19"/>
          <p:cNvSpPr txBox="1"/>
          <p:nvPr/>
        </p:nvSpPr>
        <p:spPr>
          <a:xfrm>
            <a:off x="3846050" y="5620650"/>
            <a:ext cx="4680000" cy="399900"/>
          </a:xfrm>
          <a:prstGeom prst="rect">
            <a:avLst/>
          </a:prstGeom>
          <a:noFill/>
          <a:ln>
            <a:noFill/>
          </a:ln>
        </p:spPr>
        <p:txBody>
          <a:bodyPr spcFirstLastPara="1" wrap="square" lIns="91425" tIns="91425" rIns="91425" bIns="91425" anchor="t" anchorCtr="0">
            <a:spAutoFit/>
          </a:bodyPr>
          <a:lstStyle/>
          <a:p>
            <a:pPr marL="0" lvl="0" indent="0" algn="r" rtl="0">
              <a:lnSpc>
                <a:spcPct val="95000"/>
              </a:lnSpc>
              <a:spcBef>
                <a:spcPts val="0"/>
              </a:spcBef>
              <a:spcAft>
                <a:spcPts val="1200"/>
              </a:spcAft>
              <a:buNone/>
            </a:pPr>
            <a:r>
              <a:rPr lang="ja" sz="1471">
                <a:solidFill>
                  <a:schemeClr val="dk2"/>
                </a:solidFill>
              </a:rPr>
              <a:t>プレス記事：https://www.atpress.ne.jp/news/215590</a:t>
            </a:r>
            <a:endParaRPr sz="1471">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655850" y="707450"/>
            <a:ext cx="7870200" cy="7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b="1">
                <a:solidFill>
                  <a:srgbClr val="5F5F5F"/>
                </a:solidFill>
              </a:rPr>
              <a:t>シンギュラリティ・ソサエティについて</a:t>
            </a:r>
            <a:endParaRPr b="1">
              <a:solidFill>
                <a:srgbClr val="5F5F5F"/>
              </a:solidFill>
            </a:endParaRPr>
          </a:p>
        </p:txBody>
      </p:sp>
      <p:sp>
        <p:nvSpPr>
          <p:cNvPr id="121" name="Google Shape;121;p22"/>
          <p:cNvSpPr txBox="1">
            <a:spLocks noGrp="1"/>
          </p:cNvSpPr>
          <p:nvPr>
            <p:ph type="body" idx="1"/>
          </p:nvPr>
        </p:nvSpPr>
        <p:spPr>
          <a:xfrm>
            <a:off x="655850" y="1536625"/>
            <a:ext cx="7870200" cy="2444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Clr>
                <a:schemeClr val="dk1"/>
              </a:buClr>
              <a:buSzPts val="1100"/>
              <a:buFont typeface="Arial"/>
              <a:buNone/>
            </a:pPr>
            <a:r>
              <a:rPr lang="ja"/>
              <a:t>シンギュラリティ・ソサエティは、あらゆるテクノロジーに対する深い理解をもち、テクノロジーを最大限に活用できる次世代のリーダーや起業家を育成、支援することを目指す組織です。</a:t>
            </a:r>
            <a:br>
              <a:rPr lang="ja"/>
            </a:br>
            <a:br>
              <a:rPr lang="ja" sz="1300"/>
            </a:br>
            <a:r>
              <a:rPr lang="ja" sz="1300"/>
              <a:t>一般社団法人シンギュラリティ・ソサエティ</a:t>
            </a:r>
            <a:br>
              <a:rPr lang="ja" sz="1300"/>
            </a:br>
            <a:r>
              <a:rPr lang="ja" sz="1300" u="sng">
                <a:solidFill>
                  <a:schemeClr val="accent5"/>
                </a:solidFill>
                <a:hlinkClick r:id="rId3">
                  <a:extLst>
                    <a:ext uri="{A12FA001-AC4F-418D-AE19-62706E023703}">
                      <ahyp:hlinkClr xmlns:ahyp="http://schemas.microsoft.com/office/drawing/2018/hyperlinkcolor" val="tx"/>
                    </a:ext>
                  </a:extLst>
                </a:hlinkClick>
              </a:rPr>
              <a:t>https://www.singularitysociety.org</a:t>
            </a:r>
            <a:r>
              <a:rPr lang="ja" sz="1300"/>
              <a:t>　　　　</a:t>
            </a:r>
            <a:endParaRPr/>
          </a:p>
        </p:txBody>
      </p:sp>
      <p:pic>
        <p:nvPicPr>
          <p:cNvPr id="122" name="Google Shape;122;p22"/>
          <p:cNvPicPr preferRelativeResize="0"/>
          <p:nvPr/>
        </p:nvPicPr>
        <p:blipFill>
          <a:blip r:embed="rId4">
            <a:alphaModFix/>
          </a:blip>
          <a:stretch>
            <a:fillRect/>
          </a:stretch>
        </p:blipFill>
        <p:spPr>
          <a:xfrm>
            <a:off x="787550" y="3429000"/>
            <a:ext cx="4899381" cy="2572175"/>
          </a:xfrm>
          <a:prstGeom prst="rect">
            <a:avLst/>
          </a:prstGeom>
          <a:noFill/>
          <a:ln>
            <a:noFill/>
          </a:ln>
        </p:spPr>
      </p:pic>
      <p:sp>
        <p:nvSpPr>
          <p:cNvPr id="123" name="Google Shape;123;p22"/>
          <p:cNvSpPr txBox="1"/>
          <p:nvPr/>
        </p:nvSpPr>
        <p:spPr>
          <a:xfrm>
            <a:off x="5903300" y="5259550"/>
            <a:ext cx="2370300" cy="98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 sz="1300"/>
              <a:t>代表理事：中島聡</a:t>
            </a:r>
            <a:br>
              <a:rPr lang="ja" sz="1300"/>
            </a:br>
            <a:r>
              <a:rPr lang="ja" sz="1300"/>
              <a:t>元Windows95アーキテクト</a:t>
            </a:r>
            <a:endParaRPr sz="1300"/>
          </a:p>
          <a:p>
            <a:pPr marL="0" lvl="0" indent="0" algn="l" rtl="0">
              <a:spcBef>
                <a:spcPts val="0"/>
              </a:spcBef>
              <a:spcAft>
                <a:spcPts val="0"/>
              </a:spcAft>
              <a:buNone/>
            </a:pPr>
            <a:r>
              <a:rPr lang="ja" sz="1300"/>
              <a:t>連続起業家、投資家、</a:t>
            </a:r>
            <a:endParaRPr sz="1300"/>
          </a:p>
          <a:p>
            <a:pPr marL="0" lvl="0" indent="0" algn="l" rtl="0">
              <a:spcBef>
                <a:spcPts val="0"/>
              </a:spcBef>
              <a:spcAft>
                <a:spcPts val="0"/>
              </a:spcAft>
              <a:buNone/>
            </a:pPr>
            <a:r>
              <a:rPr lang="ja" sz="1300"/>
              <a:t>現役エンジニア</a:t>
            </a:r>
            <a:endParaRPr sz="1300"/>
          </a:p>
        </p:txBody>
      </p:sp>
      <p:pic>
        <p:nvPicPr>
          <p:cNvPr id="124" name="Google Shape;124;p22"/>
          <p:cNvPicPr preferRelativeResize="0"/>
          <p:nvPr/>
        </p:nvPicPr>
        <p:blipFill>
          <a:blip r:embed="rId5">
            <a:alphaModFix/>
          </a:blip>
          <a:stretch>
            <a:fillRect/>
          </a:stretch>
        </p:blipFill>
        <p:spPr>
          <a:xfrm>
            <a:off x="5943825" y="3429000"/>
            <a:ext cx="1181550" cy="1735295"/>
          </a:xfrm>
          <a:prstGeom prst="rect">
            <a:avLst/>
          </a:prstGeom>
          <a:noFill/>
          <a:ln>
            <a:noFill/>
          </a:ln>
        </p:spPr>
      </p:pic>
      <p:pic>
        <p:nvPicPr>
          <p:cNvPr id="125" name="Google Shape;125;p22"/>
          <p:cNvPicPr preferRelativeResize="0"/>
          <p:nvPr/>
        </p:nvPicPr>
        <p:blipFill>
          <a:blip r:embed="rId6">
            <a:alphaModFix/>
          </a:blip>
          <a:stretch>
            <a:fillRect/>
          </a:stretch>
        </p:blipFill>
        <p:spPr>
          <a:xfrm>
            <a:off x="7344499" y="3429006"/>
            <a:ext cx="1181550" cy="1736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655850" y="707450"/>
            <a:ext cx="7870200" cy="7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ja" b="1">
                <a:solidFill>
                  <a:srgbClr val="5F5F5F"/>
                </a:solidFill>
              </a:rPr>
              <a:t>シンギュラリティ・ソサエティについて</a:t>
            </a:r>
            <a:endParaRPr b="1">
              <a:solidFill>
                <a:srgbClr val="5F5F5F"/>
              </a:solidFill>
            </a:endParaRPr>
          </a:p>
        </p:txBody>
      </p:sp>
      <p:sp>
        <p:nvSpPr>
          <p:cNvPr id="131" name="Google Shape;131;p23"/>
          <p:cNvSpPr txBox="1">
            <a:spLocks noGrp="1"/>
          </p:cNvSpPr>
          <p:nvPr>
            <p:ph type="body" idx="1"/>
          </p:nvPr>
        </p:nvSpPr>
        <p:spPr>
          <a:xfrm>
            <a:off x="655850" y="1536625"/>
            <a:ext cx="7870200" cy="3386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a:t>おもちかえり.com以外のプロジェクト</a:t>
            </a:r>
            <a:endParaRPr/>
          </a:p>
          <a:p>
            <a:pPr marL="457200" lvl="0" indent="-342900" algn="l" rtl="0">
              <a:spcBef>
                <a:spcPts val="1200"/>
              </a:spcBef>
              <a:spcAft>
                <a:spcPts val="0"/>
              </a:spcAft>
              <a:buSzPts val="1800"/>
              <a:buChar char="●"/>
            </a:pPr>
            <a:r>
              <a:rPr lang="ja"/>
              <a:t>MaaS</a:t>
            </a:r>
            <a:br>
              <a:rPr lang="ja"/>
            </a:br>
            <a:r>
              <a:rPr lang="ja" sz="1600" u="sng">
                <a:solidFill>
                  <a:schemeClr val="hlink"/>
                </a:solidFill>
                <a:hlinkClick r:id="rId3"/>
              </a:rPr>
              <a:t>https://singularitysociety.org/projects/bus20/</a:t>
            </a:r>
            <a:endParaRPr sz="1600"/>
          </a:p>
          <a:p>
            <a:pPr marL="457200" lvl="0" indent="-330200" algn="l" rtl="0">
              <a:spcBef>
                <a:spcPts val="0"/>
              </a:spcBef>
              <a:spcAft>
                <a:spcPts val="0"/>
              </a:spcAft>
              <a:buSzPts val="1600"/>
              <a:buChar char="●"/>
            </a:pPr>
            <a:r>
              <a:rPr lang="ja" sz="1600"/>
              <a:t>BootCamp（スタートアップ支援）</a:t>
            </a:r>
            <a:br>
              <a:rPr lang="ja" sz="1600"/>
            </a:br>
            <a:r>
              <a:rPr lang="ja" sz="1600" u="sng">
                <a:solidFill>
                  <a:schemeClr val="hlink"/>
                </a:solidFill>
                <a:hlinkClick r:id="rId4"/>
              </a:rPr>
              <a:t>https://singularitysociety.org/activities/bootcamp/</a:t>
            </a:r>
            <a:endParaRPr sz="1600"/>
          </a:p>
          <a:p>
            <a:pPr marL="457200" lvl="0" indent="-342900" algn="l" rtl="0">
              <a:spcBef>
                <a:spcPts val="0"/>
              </a:spcBef>
              <a:spcAft>
                <a:spcPts val="0"/>
              </a:spcAft>
              <a:buSzPts val="1800"/>
              <a:buChar char="●"/>
            </a:pPr>
            <a:r>
              <a:rPr lang="ja" sz="1600"/>
              <a:t>AI</a:t>
            </a:r>
            <a:br>
              <a:rPr lang="ja" sz="1600"/>
            </a:br>
            <a:r>
              <a:rPr lang="ja" sz="1600" u="sng">
                <a:solidFill>
                  <a:schemeClr val="hlink"/>
                </a:solidFill>
                <a:hlinkClick r:id="rId5"/>
              </a:rPr>
              <a:t>https://singularitysociety.org/projects/ai/</a:t>
            </a:r>
            <a:endParaRPr sz="1600"/>
          </a:p>
          <a:p>
            <a:pPr marL="457200" lvl="0" indent="-330200" algn="l" rtl="0">
              <a:spcBef>
                <a:spcPts val="0"/>
              </a:spcBef>
              <a:spcAft>
                <a:spcPts val="0"/>
              </a:spcAft>
              <a:buSzPts val="1600"/>
              <a:buChar char="●"/>
            </a:pPr>
            <a:r>
              <a:rPr lang="ja" sz="1600"/>
              <a:t>Web3</a:t>
            </a:r>
            <a:br>
              <a:rPr lang="ja" sz="1600"/>
            </a:br>
            <a:r>
              <a:rPr lang="ja" sz="1600" u="sng">
                <a:solidFill>
                  <a:schemeClr val="hlink"/>
                </a:solidFill>
                <a:hlinkClick r:id="rId6"/>
              </a:rPr>
              <a:t>https://singularitysociety.org/projects/web3/</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4"/>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b="1">
                <a:solidFill>
                  <a:srgbClr val="5F5F5F"/>
                </a:solidFill>
              </a:rPr>
              <a:t>補足資料１：利用者の声</a:t>
            </a:r>
            <a:endParaRPr b="1">
              <a:solidFill>
                <a:srgbClr val="5F5F5F"/>
              </a:solidFill>
            </a:endParaRPr>
          </a:p>
        </p:txBody>
      </p:sp>
      <p:sp>
        <p:nvSpPr>
          <p:cNvPr id="137" name="Google Shape;137;p24"/>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1200"/>
              </a:spcAft>
              <a:buNone/>
            </a:pPr>
            <a:endParaRPr/>
          </a:p>
        </p:txBody>
      </p:sp>
      <p:sp>
        <p:nvSpPr>
          <p:cNvPr id="138" name="Google Shape;138;p24"/>
          <p:cNvSpPr/>
          <p:nvPr/>
        </p:nvSpPr>
        <p:spPr>
          <a:xfrm>
            <a:off x="700625" y="1665650"/>
            <a:ext cx="2475600" cy="1888800"/>
          </a:xfrm>
          <a:prstGeom prst="roundRect">
            <a:avLst>
              <a:gd name="adj" fmla="val 7280"/>
            </a:avLst>
          </a:prstGeom>
          <a:solidFill>
            <a:srgbClr val="FBC0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 sz="1800" b="1">
                <a:solidFill>
                  <a:schemeClr val="lt1"/>
                </a:solidFill>
              </a:rPr>
              <a:t>営業時間外でも注文が受けられるようになり機会損失がなくなりました！</a:t>
            </a:r>
            <a:endParaRPr sz="1800" b="1">
              <a:solidFill>
                <a:schemeClr val="lt1"/>
              </a:solidFill>
            </a:endParaRPr>
          </a:p>
        </p:txBody>
      </p:sp>
      <p:sp>
        <p:nvSpPr>
          <p:cNvPr id="139" name="Google Shape;139;p24"/>
          <p:cNvSpPr/>
          <p:nvPr/>
        </p:nvSpPr>
        <p:spPr>
          <a:xfrm>
            <a:off x="3334200" y="1665667"/>
            <a:ext cx="2475600" cy="1888800"/>
          </a:xfrm>
          <a:prstGeom prst="roundRect">
            <a:avLst>
              <a:gd name="adj" fmla="val 7280"/>
            </a:avLst>
          </a:prstGeom>
          <a:solidFill>
            <a:srgbClr val="FBC0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 sz="1800" b="1">
                <a:solidFill>
                  <a:schemeClr val="lt1"/>
                </a:solidFill>
              </a:rPr>
              <a:t>電話注文での聞き違えによる注文の間違えが解消されました！</a:t>
            </a:r>
            <a:endParaRPr sz="1800" b="1">
              <a:solidFill>
                <a:schemeClr val="lt1"/>
              </a:solidFill>
            </a:endParaRPr>
          </a:p>
        </p:txBody>
      </p:sp>
      <p:sp>
        <p:nvSpPr>
          <p:cNvPr id="140" name="Google Shape;140;p24"/>
          <p:cNvSpPr/>
          <p:nvPr/>
        </p:nvSpPr>
        <p:spPr>
          <a:xfrm>
            <a:off x="5967775" y="1665667"/>
            <a:ext cx="2475600" cy="1888800"/>
          </a:xfrm>
          <a:prstGeom prst="roundRect">
            <a:avLst>
              <a:gd name="adj" fmla="val 7280"/>
            </a:avLst>
          </a:prstGeom>
          <a:solidFill>
            <a:srgbClr val="FBC0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 sz="1800" b="1">
                <a:solidFill>
                  <a:schemeClr val="lt1"/>
                </a:solidFill>
              </a:rPr>
              <a:t>LINEや電話で受注が入ったことを知らせてくれるので見落としがなくなりました</a:t>
            </a:r>
            <a:endParaRPr sz="1800" b="1">
              <a:solidFill>
                <a:schemeClr val="lt1"/>
              </a:solidFill>
            </a:endParaRPr>
          </a:p>
        </p:txBody>
      </p:sp>
      <p:sp>
        <p:nvSpPr>
          <p:cNvPr id="141" name="Google Shape;141;p24"/>
          <p:cNvSpPr/>
          <p:nvPr/>
        </p:nvSpPr>
        <p:spPr>
          <a:xfrm>
            <a:off x="700625" y="3756900"/>
            <a:ext cx="2475600" cy="1888800"/>
          </a:xfrm>
          <a:prstGeom prst="roundRect">
            <a:avLst>
              <a:gd name="adj" fmla="val 7280"/>
            </a:avLst>
          </a:prstGeom>
          <a:solidFill>
            <a:srgbClr val="FBC0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 sz="1800" b="1">
                <a:solidFill>
                  <a:schemeClr val="lt1"/>
                </a:solidFill>
              </a:rPr>
              <a:t>オンラインで決済できるようになり、予約しても取りに来ない人からの料金未回収がなくなりました</a:t>
            </a:r>
            <a:endParaRPr sz="1800" b="1">
              <a:solidFill>
                <a:schemeClr val="lt1"/>
              </a:solidFill>
            </a:endParaRPr>
          </a:p>
        </p:txBody>
      </p:sp>
      <p:sp>
        <p:nvSpPr>
          <p:cNvPr id="142" name="Google Shape;142;p24"/>
          <p:cNvSpPr/>
          <p:nvPr/>
        </p:nvSpPr>
        <p:spPr>
          <a:xfrm>
            <a:off x="3334188" y="3756900"/>
            <a:ext cx="2475600" cy="1888800"/>
          </a:xfrm>
          <a:prstGeom prst="roundRect">
            <a:avLst>
              <a:gd name="adj" fmla="val 7280"/>
            </a:avLst>
          </a:prstGeom>
          <a:solidFill>
            <a:srgbClr val="FBC0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 sz="1800" b="1">
                <a:solidFill>
                  <a:schemeClr val="lt1"/>
                </a:solidFill>
              </a:rPr>
              <a:t>購入履歴が確認できるのでリピーターの把握が的確にできるようになりました！</a:t>
            </a:r>
            <a:endParaRPr sz="1800" b="1">
              <a:solidFill>
                <a:schemeClr val="lt1"/>
              </a:solidFill>
            </a:endParaRPr>
          </a:p>
        </p:txBody>
      </p:sp>
      <p:sp>
        <p:nvSpPr>
          <p:cNvPr id="143" name="Google Shape;143;p24"/>
          <p:cNvSpPr/>
          <p:nvPr/>
        </p:nvSpPr>
        <p:spPr>
          <a:xfrm>
            <a:off x="5967775" y="3756900"/>
            <a:ext cx="2475600" cy="1888800"/>
          </a:xfrm>
          <a:prstGeom prst="roundRect">
            <a:avLst>
              <a:gd name="adj" fmla="val 7280"/>
            </a:avLst>
          </a:prstGeom>
          <a:solidFill>
            <a:srgbClr val="FBC0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 sz="1800" b="1">
                <a:solidFill>
                  <a:schemeClr val="lt1"/>
                </a:solidFill>
              </a:rPr>
              <a:t>売上がダウンロードできるので記帳が楽になりました！</a:t>
            </a:r>
            <a:endParaRPr sz="1800" b="1">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5"/>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b="1">
                <a:solidFill>
                  <a:srgbClr val="5F5F5F"/>
                </a:solidFill>
              </a:rPr>
              <a:t>補足資料２：機能一覧</a:t>
            </a:r>
            <a:endParaRPr b="1">
              <a:solidFill>
                <a:srgbClr val="5F5F5F"/>
              </a:solidFill>
            </a:endParaRPr>
          </a:p>
        </p:txBody>
      </p:sp>
      <p:sp>
        <p:nvSpPr>
          <p:cNvPr id="149" name="Google Shape;149;p25"/>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ja" sz="2000"/>
              <a:t>決済手段</a:t>
            </a:r>
            <a:endParaRPr sz="2000"/>
          </a:p>
          <a:p>
            <a:pPr marL="914400" lvl="1" indent="-330200" algn="l" rtl="0">
              <a:spcBef>
                <a:spcPts val="0"/>
              </a:spcBef>
              <a:spcAft>
                <a:spcPts val="0"/>
              </a:spcAft>
              <a:buSzPts val="1600"/>
              <a:buChar char="○"/>
            </a:pPr>
            <a:r>
              <a:rPr lang="ja" sz="1600"/>
              <a:t>事前決済（オンラインカード決済）、現地決済（電子マネー利用可能）</a:t>
            </a:r>
            <a:endParaRPr sz="1600"/>
          </a:p>
          <a:p>
            <a:pPr marL="457200" lvl="0" indent="-355600" algn="l" rtl="0">
              <a:spcBef>
                <a:spcPts val="0"/>
              </a:spcBef>
              <a:spcAft>
                <a:spcPts val="0"/>
              </a:spcAft>
              <a:buSzPts val="2000"/>
              <a:buChar char="●"/>
            </a:pPr>
            <a:r>
              <a:rPr lang="ja" sz="2000"/>
              <a:t>通知機能</a:t>
            </a:r>
            <a:endParaRPr sz="2000"/>
          </a:p>
          <a:p>
            <a:pPr marL="914400" lvl="1" indent="-330200" algn="l" rtl="0">
              <a:spcBef>
                <a:spcPts val="0"/>
              </a:spcBef>
              <a:spcAft>
                <a:spcPts val="0"/>
              </a:spcAft>
              <a:buSzPts val="1600"/>
              <a:buChar char="○"/>
            </a:pPr>
            <a:r>
              <a:rPr lang="ja" sz="1600"/>
              <a:t>LINE、メール、電話、ユーザーへの通知機能（LINE）</a:t>
            </a:r>
            <a:endParaRPr sz="1600"/>
          </a:p>
          <a:p>
            <a:pPr marL="457200" lvl="0" indent="-355600" algn="l" rtl="0">
              <a:spcBef>
                <a:spcPts val="0"/>
              </a:spcBef>
              <a:spcAft>
                <a:spcPts val="0"/>
              </a:spcAft>
              <a:buSzPts val="2000"/>
              <a:buChar char="●"/>
            </a:pPr>
            <a:r>
              <a:rPr lang="ja" sz="2000"/>
              <a:t>受注機能</a:t>
            </a:r>
            <a:endParaRPr sz="2000"/>
          </a:p>
          <a:p>
            <a:pPr marL="914400" lvl="1" indent="-330200" algn="l" rtl="0">
              <a:spcBef>
                <a:spcPts val="0"/>
              </a:spcBef>
              <a:spcAft>
                <a:spcPts val="0"/>
              </a:spcAft>
              <a:buSzPts val="1600"/>
              <a:buChar char="○"/>
            </a:pPr>
            <a:r>
              <a:rPr lang="ja" sz="1600"/>
              <a:t>24時間受付可能、混雑時の受注一時停止、臨時休業設定</a:t>
            </a:r>
            <a:endParaRPr sz="1600"/>
          </a:p>
          <a:p>
            <a:pPr marL="914400" lvl="1" indent="-330200" algn="l" rtl="0">
              <a:spcBef>
                <a:spcPts val="0"/>
              </a:spcBef>
              <a:spcAft>
                <a:spcPts val="0"/>
              </a:spcAft>
              <a:buSzPts val="1600"/>
              <a:buChar char="○"/>
            </a:pPr>
            <a:r>
              <a:rPr lang="ja" sz="1600"/>
              <a:t>心付け（チップ）、印刷機能</a:t>
            </a:r>
            <a:endParaRPr sz="1600"/>
          </a:p>
          <a:p>
            <a:pPr marL="457200" lvl="0" indent="-355600" algn="l" rtl="0">
              <a:spcBef>
                <a:spcPts val="0"/>
              </a:spcBef>
              <a:spcAft>
                <a:spcPts val="0"/>
              </a:spcAft>
              <a:buSzPts val="2000"/>
              <a:buChar char="●"/>
            </a:pPr>
            <a:r>
              <a:rPr lang="ja" sz="2000"/>
              <a:t>メニュー</a:t>
            </a:r>
            <a:endParaRPr sz="2000"/>
          </a:p>
          <a:p>
            <a:pPr marL="914400" lvl="1" indent="-330200" algn="l" rtl="0">
              <a:spcBef>
                <a:spcPts val="0"/>
              </a:spcBef>
              <a:spcAft>
                <a:spcPts val="0"/>
              </a:spcAft>
              <a:buSzPts val="1600"/>
              <a:buChar char="○"/>
            </a:pPr>
            <a:r>
              <a:rPr lang="ja" sz="1600"/>
              <a:t>細かいオプション指定、売り切れ設定</a:t>
            </a:r>
            <a:endParaRPr sz="1600"/>
          </a:p>
          <a:p>
            <a:pPr marL="914400" lvl="1" indent="-330200" algn="l" rtl="0">
              <a:spcBef>
                <a:spcPts val="0"/>
              </a:spcBef>
              <a:spcAft>
                <a:spcPts val="0"/>
              </a:spcAft>
              <a:buSzPts val="1600"/>
              <a:buChar char="○"/>
            </a:pPr>
            <a:r>
              <a:rPr lang="ja" sz="1600"/>
              <a:t>特定のメニューの受付を曜日や時間帯で除外</a:t>
            </a:r>
            <a:endParaRPr sz="1600"/>
          </a:p>
          <a:p>
            <a:pPr marL="457200" lvl="0" indent="-355600" algn="l" rtl="0">
              <a:spcBef>
                <a:spcPts val="0"/>
              </a:spcBef>
              <a:spcAft>
                <a:spcPts val="0"/>
              </a:spcAft>
              <a:buSzPts val="2000"/>
              <a:buChar char="●"/>
            </a:pPr>
            <a:r>
              <a:rPr lang="ja" sz="2000"/>
              <a:t>その他</a:t>
            </a:r>
            <a:endParaRPr sz="2000"/>
          </a:p>
          <a:p>
            <a:pPr marL="914400" lvl="1" indent="-330200" algn="l" rtl="0">
              <a:spcBef>
                <a:spcPts val="0"/>
              </a:spcBef>
              <a:spcAft>
                <a:spcPts val="0"/>
              </a:spcAft>
              <a:buSzPts val="1600"/>
              <a:buChar char="○"/>
            </a:pPr>
            <a:r>
              <a:rPr lang="ja" sz="1600"/>
              <a:t>デリバリー、ワンクリックチラシ作成、売上データダウンロード</a:t>
            </a:r>
            <a:endParaRPr sz="1600"/>
          </a:p>
          <a:p>
            <a:pPr marL="914400" lvl="1" indent="-330200" algn="l" rtl="0">
              <a:spcBef>
                <a:spcPts val="0"/>
              </a:spcBef>
              <a:spcAft>
                <a:spcPts val="0"/>
              </a:spcAft>
              <a:buSzPts val="1600"/>
              <a:buChar char="○"/>
            </a:pPr>
            <a:r>
              <a:rPr lang="ja" sz="1600"/>
              <a:t>リピーターの把握、割引機能、スマレジ連携で在庫管理</a:t>
            </a:r>
            <a:endParaRPr sz="1600"/>
          </a:p>
          <a:p>
            <a:pPr marL="914400" lvl="1" indent="-330200" algn="l" rtl="0">
              <a:spcBef>
                <a:spcPts val="0"/>
              </a:spcBef>
              <a:spcAft>
                <a:spcPts val="0"/>
              </a:spcAft>
              <a:buSzPts val="1600"/>
              <a:buChar char="○"/>
            </a:pPr>
            <a:r>
              <a:rPr lang="ja" sz="1600"/>
              <a:t>サブアカウント機能</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6"/>
          <p:cNvSpPr txBox="1">
            <a:spLocks noGrp="1"/>
          </p:cNvSpPr>
          <p:nvPr>
            <p:ph type="body" idx="1"/>
          </p:nvPr>
        </p:nvSpPr>
        <p:spPr>
          <a:xfrm>
            <a:off x="311700" y="830649"/>
            <a:ext cx="8520600" cy="5261100"/>
          </a:xfrm>
          <a:prstGeom prst="rect">
            <a:avLst/>
          </a:prstGeom>
        </p:spPr>
        <p:txBody>
          <a:bodyPr spcFirstLastPara="1" wrap="square" lIns="91425" tIns="91425" rIns="91425" bIns="91425" anchor="ctr" anchorCtr="0">
            <a:normAutofit/>
          </a:bodyPr>
          <a:lstStyle/>
          <a:p>
            <a:pPr marL="0" lvl="0" indent="0" algn="ctr" rtl="0">
              <a:spcBef>
                <a:spcPts val="0"/>
              </a:spcBef>
              <a:spcAft>
                <a:spcPts val="1200"/>
              </a:spcAft>
              <a:buNone/>
            </a:pPr>
            <a:r>
              <a:rPr lang="ja" sz="4600" b="1"/>
              <a:t>デモ</a:t>
            </a:r>
            <a:endParaRPr sz="4600" b="1"/>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BC02D"/>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954</Words>
  <Application>Microsoft Macintosh PowerPoint</Application>
  <PresentationFormat>画面に合わせる (4:3)</PresentationFormat>
  <Paragraphs>96</Paragraphs>
  <Slides>11</Slides>
  <Notes>11</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11</vt:i4>
      </vt:variant>
    </vt:vector>
  </HeadingPairs>
  <TitlesOfParts>
    <vt:vector size="13" baseType="lpstr">
      <vt:lpstr>Arial</vt:lpstr>
      <vt:lpstr>Simple Light</vt:lpstr>
      <vt:lpstr>PowerPoint プレゼンテーション</vt:lpstr>
      <vt:lpstr>本日お話すること</vt:lpstr>
      <vt:lpstr>サービス概要と特徴</vt:lpstr>
      <vt:lpstr>サービス概要と特徴</vt:lpstr>
      <vt:lpstr>サービス立ち上げ背景</vt:lpstr>
      <vt:lpstr>サービス立ち上げ背景</vt:lpstr>
      <vt:lpstr>シンギュラリティ・ソサエティについて</vt:lpstr>
      <vt:lpstr>シンギュラリティ・ソサエティについて</vt:lpstr>
      <vt:lpstr>補足資料１：利用者の声</vt:lpstr>
      <vt:lpstr>補足資料２：機能一覧</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isamu arimoto</cp:lastModifiedBy>
  <cp:revision>3</cp:revision>
  <dcterms:modified xsi:type="dcterms:W3CDTF">2026-01-08T08:26:50Z</dcterms:modified>
</cp:coreProperties>
</file>